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strument Sans Medium" panose="020B0604020202020204" charset="0"/>
      <p:regular r:id="rId17"/>
    </p:embeddedFont>
    <p:embeddedFont>
      <p:font typeface="Instrument Sans Semi Bold" panose="020B0604020202020204" charset="0"/>
      <p:regular r:id="rId18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910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svg"/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0040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Proyecto IoT: Control de Acceso para Motocicletas en ESCOM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517469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Sistemas </a:t>
            </a:r>
            <a:r>
              <a:rPr lang="en-US" sz="2200" dirty="0" err="1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Embebidos</a:t>
            </a: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6CM3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556629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Presenta</a:t>
            </a:r>
            <a:r>
              <a:rPr lang="en-US" sz="1750" b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</a:t>
            </a:r>
            <a:r>
              <a:rPr lang="en-US" sz="175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Morgans·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Fecha: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5 de </a:t>
            </a:r>
            <a:r>
              <a:rPr lang="en-US" sz="175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Enero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 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15616"/>
            <a:ext cx="1284923" cy="426244"/>
          </a:xfrm>
          <a:prstGeom prst="roundRect">
            <a:avLst>
              <a:gd name="adj" fmla="val 17880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929878" y="1183600"/>
            <a:ext cx="101274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CAPÍTULO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32585"/>
            <a:ext cx="99101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Base del Proyecto: Repositorio Actual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681526"/>
            <a:ext cx="4196358" cy="3451503"/>
          </a:xfrm>
          <a:prstGeom prst="roundRect">
            <a:avLst>
              <a:gd name="adj" fmla="val 276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2915960"/>
            <a:ext cx="680442" cy="68044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3103007"/>
            <a:ext cx="306110" cy="3061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8224" y="3823216"/>
            <a:ext cx="372749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Sistema Web Funcional</a:t>
            </a:r>
            <a:endParaRPr lang="en-US" sz="2650" dirty="0"/>
          </a:p>
        </p:txBody>
      </p:sp>
      <p:sp>
        <p:nvSpPr>
          <p:cNvPr id="9" name="Text 5"/>
          <p:cNvSpPr/>
          <p:nvPr/>
        </p:nvSpPr>
        <p:spPr>
          <a:xfrm>
            <a:off x="1028224" y="4809887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 sistema web robusto diseñado para el registro detallado de alumnos y sus vehículos asociados.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5216962" y="2681526"/>
            <a:ext cx="4196358" cy="3451503"/>
          </a:xfrm>
          <a:prstGeom prst="roundRect">
            <a:avLst>
              <a:gd name="adj" fmla="val 276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1396" y="2915960"/>
            <a:ext cx="680442" cy="680442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38562" y="3103007"/>
            <a:ext cx="306110" cy="3061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51396" y="382321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Backend con Node.js</a:t>
            </a:r>
            <a:endParaRPr lang="en-US" sz="2650" dirty="0"/>
          </a:p>
        </p:txBody>
      </p:sp>
      <p:sp>
        <p:nvSpPr>
          <p:cNvPr id="14" name="Text 8"/>
          <p:cNvSpPr/>
          <p:nvPr/>
        </p:nvSpPr>
        <p:spPr>
          <a:xfrm>
            <a:off x="5451396" y="4384596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Desarrollado con Node.js, ofreciendo un entorno de servidor eficiente y escalable para gestionar las operaciones.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9640133" y="2681526"/>
            <a:ext cx="4196358" cy="3451503"/>
          </a:xfrm>
          <a:prstGeom prst="roundRect">
            <a:avLst>
              <a:gd name="adj" fmla="val 276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4568" y="2915960"/>
            <a:ext cx="680442" cy="680442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61734" y="3103007"/>
            <a:ext cx="306110" cy="30611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874568" y="3823216"/>
            <a:ext cx="348638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Base de Datos MySQL</a:t>
            </a:r>
            <a:endParaRPr lang="en-US" sz="2650" dirty="0"/>
          </a:p>
        </p:txBody>
      </p:sp>
      <p:sp>
        <p:nvSpPr>
          <p:cNvPr id="19" name="Text 11"/>
          <p:cNvSpPr/>
          <p:nvPr/>
        </p:nvSpPr>
        <p:spPr>
          <a:xfrm>
            <a:off x="9874568" y="4384596"/>
            <a:ext cx="3727490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Utiliza MySQL a través de XAMPP, con un script </a:t>
            </a:r>
            <a:r>
              <a:rPr lang="en-US" sz="1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database.sql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incluido para una configuración sencilla y rápida.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793790" y="638817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 repositorio actual establece una sólida base administrativa para la gestión de usuarios y activos vehiculares dentro de ESCOM.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41244" y="514588"/>
            <a:ext cx="1059775" cy="351592"/>
          </a:xfrm>
          <a:prstGeom prst="roundRect">
            <a:avLst>
              <a:gd name="adj" fmla="val 17883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6253520" y="570667"/>
            <a:ext cx="835223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CAPÍTULO 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141244" y="940951"/>
            <a:ext cx="7834313" cy="116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Puesta en Marcha: Ejecución del Sistema Web</a:t>
            </a:r>
            <a:endParaRPr lang="en-US" sz="3650" dirty="0"/>
          </a:p>
        </p:txBody>
      </p:sp>
      <p:sp>
        <p:nvSpPr>
          <p:cNvPr id="6" name="Shape 3"/>
          <p:cNvSpPr/>
          <p:nvPr/>
        </p:nvSpPr>
        <p:spPr>
          <a:xfrm>
            <a:off x="6281499" y="2391013"/>
            <a:ext cx="22860" cy="4020622"/>
          </a:xfrm>
          <a:prstGeom prst="roundRect">
            <a:avLst>
              <a:gd name="adj" fmla="val 343804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6258639" y="2590086"/>
            <a:ext cx="374213" cy="22860"/>
          </a:xfrm>
          <a:prstGeom prst="roundRect">
            <a:avLst>
              <a:gd name="adj" fmla="val 343804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372" y="2531388"/>
            <a:ext cx="140256" cy="140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30045" y="2455307"/>
            <a:ext cx="2644021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1. Instalar Dependencias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030045" y="2860000"/>
            <a:ext cx="6945511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Ejecutar </a:t>
            </a: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para descargar todas las librerías y módulos necesarios del proyecto.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58639" y="4055031"/>
            <a:ext cx="374213" cy="22860"/>
          </a:xfrm>
          <a:prstGeom prst="roundRect">
            <a:avLst>
              <a:gd name="adj" fmla="val 343804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372" y="3996333"/>
            <a:ext cx="140256" cy="1402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30045" y="3920252"/>
            <a:ext cx="3018949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 Configurar Base de Datos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7030045" y="4324945"/>
            <a:ext cx="6945511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Importar el archivo </a:t>
            </a: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database.sql</a:t>
            </a: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en </a:t>
            </a: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phpMyAdmin</a:t>
            </a: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para establecer la estructura y los datos iniciales de la base de datos.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258639" y="5519976"/>
            <a:ext cx="374213" cy="22860"/>
          </a:xfrm>
          <a:prstGeom prst="roundRect">
            <a:avLst>
              <a:gd name="adj" fmla="val 343804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372" y="5461278"/>
            <a:ext cx="140256" cy="1402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30045" y="5385197"/>
            <a:ext cx="2338983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 Iniciar Servidor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7030045" y="5789890"/>
            <a:ext cx="6945511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Lanzar el servidor Node.js mediante el comando </a:t>
            </a: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node app.js</a:t>
            </a: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que iniciará la aplicación web.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141244" y="6622137"/>
            <a:ext cx="7834313" cy="1094423"/>
          </a:xfrm>
          <a:prstGeom prst="roundRect">
            <a:avLst>
              <a:gd name="adj" fmla="val 7181"/>
            </a:avLst>
          </a:prstGeom>
          <a:solidFill>
            <a:srgbClr val="D4D5D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291" y="6905506"/>
            <a:ext cx="233839" cy="18704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49177" y="6855857"/>
            <a:ext cx="7039332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 asegurar el correcto funcionamiento, se requiere </a:t>
            </a:r>
            <a:r>
              <a:rPr lang="en-US" sz="14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XAMPP (con MySQL)</a:t>
            </a:r>
            <a:r>
              <a:rPr lang="en-US" sz="1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y </a:t>
            </a:r>
            <a:r>
              <a:rPr lang="en-US" sz="14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 v22+</a:t>
            </a:r>
            <a:r>
              <a:rPr lang="en-US" sz="1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instalados en el entorno local.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8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42196" y="515183"/>
            <a:ext cx="1061323" cy="352187"/>
          </a:xfrm>
          <a:prstGeom prst="roundRect">
            <a:avLst>
              <a:gd name="adj" fmla="val 17876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6254591" y="571381"/>
            <a:ext cx="836533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CAPÍTULO 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142196" y="942261"/>
            <a:ext cx="7832408" cy="117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Capacidades del Sistema Web Implementado</a:t>
            </a:r>
            <a:endParaRPr lang="en-US" sz="3650" dirty="0"/>
          </a:p>
        </p:txBody>
      </p:sp>
      <p:sp>
        <p:nvSpPr>
          <p:cNvPr id="6" name="Shape 3"/>
          <p:cNvSpPr/>
          <p:nvPr/>
        </p:nvSpPr>
        <p:spPr>
          <a:xfrm>
            <a:off x="6142196" y="2394109"/>
            <a:ext cx="749379" cy="1379220"/>
          </a:xfrm>
          <a:prstGeom prst="roundRect">
            <a:avLst>
              <a:gd name="adj" fmla="val 36005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6376392" y="2908102"/>
            <a:ext cx="280988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078861" y="2581394"/>
            <a:ext cx="2342078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Registro de Alumnos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078861" y="2986445"/>
            <a:ext cx="6895743" cy="59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Creación de perfiles completos para cada estudiante, incluyendo información personal y académica.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42196" y="3960614"/>
            <a:ext cx="749379" cy="1379220"/>
          </a:xfrm>
          <a:prstGeom prst="roundRect">
            <a:avLst>
              <a:gd name="adj" fmla="val 36005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6376392" y="4474607"/>
            <a:ext cx="280988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78861" y="4147899"/>
            <a:ext cx="2662237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Asociación de Vehículos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078861" y="4552950"/>
            <a:ext cx="6895743" cy="59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Vinculación de </a:t>
            </a:r>
            <a:r>
              <a:rPr lang="en-US" sz="145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motocicletas</a:t>
            </a: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 los perfiles de los alumnos, permitiendo el registro de múltiples unidades por estudiante.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142196" y="5527119"/>
            <a:ext cx="749379" cy="1379220"/>
          </a:xfrm>
          <a:prstGeom prst="roundRect">
            <a:avLst>
              <a:gd name="adj" fmla="val 36005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6376392" y="6041112"/>
            <a:ext cx="280988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078861" y="5714405"/>
            <a:ext cx="2342078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Gestión de Registros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078861" y="6119455"/>
            <a:ext cx="6895743" cy="59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Acceso a una interfaz web intuitiva para consultar, modificar y administrar todos los datos de alumnos y vehículos de manera centralizada.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142196" y="7117080"/>
            <a:ext cx="7832408" cy="59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Este sistema centraliza la información vital para una gestión eficiente, facilitando futuras integraciones y análisis.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3293" y="624007"/>
            <a:ext cx="1048345" cy="339923"/>
          </a:xfrm>
          <a:prstGeom prst="roundRect">
            <a:avLst>
              <a:gd name="adj" fmla="val 17889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741759" y="678180"/>
            <a:ext cx="831413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CAPÍTULO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33293" y="1036201"/>
            <a:ext cx="7877413" cy="113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Enfoque de la Propuesta IoT: Acceso de Motocicletas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633293" y="2438638"/>
            <a:ext cx="7877413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Aunque el sistema web maneja "vehículos" en general, nuestra propuesta IoT se concentra específicamente en optimizar el acceso para </a:t>
            </a:r>
            <a:r>
              <a:rPr 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motocicletas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3293" y="3221236"/>
            <a:ext cx="3848219" cy="2246471"/>
          </a:xfrm>
          <a:prstGeom prst="roundRect">
            <a:avLst>
              <a:gd name="adj" fmla="val 488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33" y="3221236"/>
            <a:ext cx="91440" cy="22464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5589" y="3424952"/>
            <a:ext cx="226206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Registro Adaptado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905589" y="3816191"/>
            <a:ext cx="3372207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utilizará el sistema web existente para registrar exclusivamente motocicletas y sus propietarios, ajustando los campos de datos según sea necesario.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62368" y="3221236"/>
            <a:ext cx="3848338" cy="2246471"/>
          </a:xfrm>
          <a:prstGeom prst="roundRect">
            <a:avLst>
              <a:gd name="adj" fmla="val 488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508" y="3221236"/>
            <a:ext cx="91440" cy="224647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34664" y="3424952"/>
            <a:ext cx="226206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Validación Específica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4934664" y="3816191"/>
            <a:ext cx="33723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Las reglas de acceso se configurarán para validar únicamente placas y datos pertinentes a las motocicletas.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33293" y="5648563"/>
            <a:ext cx="3848219" cy="1956911"/>
          </a:xfrm>
          <a:prstGeom prst="roundRect">
            <a:avLst>
              <a:gd name="adj" fmla="val 560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33" y="5648563"/>
            <a:ext cx="91440" cy="19569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5589" y="5852279"/>
            <a:ext cx="3009424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Flujo de Entrada Optimizado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905589" y="6243518"/>
            <a:ext cx="3372207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4366" y="942737"/>
            <a:ext cx="1067276" cy="345877"/>
          </a:xfrm>
          <a:prstGeom prst="roundRect">
            <a:avLst>
              <a:gd name="adj" fmla="val 17887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754737" y="997863"/>
            <a:ext cx="846534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CAPÍTULO 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4366" y="1362194"/>
            <a:ext cx="7855267" cy="115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Integración IoT: Lector Automático de Placas (ANPR)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4366" y="2972991"/>
            <a:ext cx="3637717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Proceso de Reconocimiento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44366" y="3502343"/>
            <a:ext cx="4118253" cy="1177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Una </a:t>
            </a:r>
            <a:r>
              <a:rPr 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cámara de alta resolución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se posicionará estratégicamente para capturar la placa de la motocicleta al momento de la llegada.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4366" y="4744522"/>
            <a:ext cx="4118253" cy="883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 algoritmo </a:t>
            </a:r>
            <a:r>
              <a:rPr 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ANPR/OCR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(Reconocimiento Automático de Placas/Reconocimiento Óptico de Caracteres) procesará la imagen.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4366" y="5692259"/>
            <a:ext cx="4118253" cy="588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 </a:t>
            </a:r>
            <a:r>
              <a:rPr 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texto extraído de la placa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se enviará al servidor central para su verificación.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343" y="2995970"/>
            <a:ext cx="3287792" cy="32877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4366" y="6697861"/>
            <a:ext cx="7855267" cy="588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Este componente es clave para automatizar el primer paso de la validación, eliminando la necesidad de interacción manual.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3865" y="1061918"/>
            <a:ext cx="734497" cy="238244"/>
          </a:xfrm>
          <a:prstGeom prst="roundRect">
            <a:avLst>
              <a:gd name="adj" fmla="val 17886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519946" y="1099899"/>
            <a:ext cx="582335" cy="162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CAPÍTULO 2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43865" y="1350883"/>
            <a:ext cx="7003613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Raspberry Pi: El Cerebro del Sistema de Acceso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43865" y="2127409"/>
            <a:ext cx="8256270" cy="935950"/>
          </a:xfrm>
          <a:prstGeom prst="roundRect">
            <a:avLst>
              <a:gd name="adj" fmla="val 7816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65" y="2112169"/>
            <a:ext cx="8256270" cy="6096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798" y="1937266"/>
            <a:ext cx="380405" cy="38040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95860" y="2051328"/>
            <a:ext cx="152162" cy="15216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5907" y="2444353"/>
            <a:ext cx="1585198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Servidor Central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585907" y="2718435"/>
            <a:ext cx="797218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Raspberry Pi actuará como el servidor principal, coordinando todas las interacciones entre los dispositivos IoT y la base de datos.</a:t>
            </a:r>
            <a:endParaRPr lang="en-US" sz="950" dirty="0"/>
          </a:p>
        </p:txBody>
      </p:sp>
      <p:sp>
        <p:nvSpPr>
          <p:cNvPr id="12" name="Shape 6"/>
          <p:cNvSpPr/>
          <p:nvPr/>
        </p:nvSpPr>
        <p:spPr>
          <a:xfrm>
            <a:off x="443865" y="3380303"/>
            <a:ext cx="8256270" cy="935950"/>
          </a:xfrm>
          <a:prstGeom prst="roundRect">
            <a:avLst>
              <a:gd name="adj" fmla="val 7816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65" y="3365063"/>
            <a:ext cx="8256270" cy="6096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798" y="3190161"/>
            <a:ext cx="380405" cy="38040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95860" y="3304223"/>
            <a:ext cx="152162" cy="152162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85907" y="3697248"/>
            <a:ext cx="1585198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Broker MQTT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585907" y="3971330"/>
            <a:ext cx="797218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Albergará un broker MQTT, facilitando la comunicación asíncrona y eficiente entre los componentes del sistema.</a:t>
            </a:r>
            <a:endParaRPr lang="en-US" sz="950" dirty="0"/>
          </a:p>
        </p:txBody>
      </p:sp>
      <p:sp>
        <p:nvSpPr>
          <p:cNvPr id="18" name="Shape 9"/>
          <p:cNvSpPr/>
          <p:nvPr/>
        </p:nvSpPr>
        <p:spPr>
          <a:xfrm>
            <a:off x="443865" y="4633198"/>
            <a:ext cx="8256270" cy="935950"/>
          </a:xfrm>
          <a:prstGeom prst="roundRect">
            <a:avLst>
              <a:gd name="adj" fmla="val 7816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65" y="4617958"/>
            <a:ext cx="8256270" cy="60960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798" y="4443055"/>
            <a:ext cx="380405" cy="380405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95860" y="4557117"/>
            <a:ext cx="152162" cy="152162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585907" y="4950143"/>
            <a:ext cx="2072997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Validación en Base de Datos</a:t>
            </a:r>
            <a:endParaRPr lang="en-US" sz="1200" dirty="0"/>
          </a:p>
        </p:txBody>
      </p:sp>
      <p:sp>
        <p:nvSpPr>
          <p:cNvPr id="23" name="Text 11"/>
          <p:cNvSpPr/>
          <p:nvPr/>
        </p:nvSpPr>
        <p:spPr>
          <a:xfrm>
            <a:off x="585907" y="5224224"/>
            <a:ext cx="797218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Recibirá las placas detectadas por el ANPR y realizará consultas directas a la base de datos del sistema web para verificar la autorización.</a:t>
            </a:r>
            <a:endParaRPr lang="en-US" sz="950" dirty="0"/>
          </a:p>
        </p:txBody>
      </p:sp>
      <p:sp>
        <p:nvSpPr>
          <p:cNvPr id="24" name="Shape 12"/>
          <p:cNvSpPr/>
          <p:nvPr/>
        </p:nvSpPr>
        <p:spPr>
          <a:xfrm>
            <a:off x="443865" y="5886093"/>
            <a:ext cx="8256270" cy="935950"/>
          </a:xfrm>
          <a:prstGeom prst="roundRect">
            <a:avLst>
              <a:gd name="adj" fmla="val 7816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65" y="5870853"/>
            <a:ext cx="8256270" cy="60960"/>
          </a:xfrm>
          <a:prstGeom prst="rect">
            <a:avLst/>
          </a:prstGeom>
        </p:spPr>
      </p:pic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798" y="5695950"/>
            <a:ext cx="380405" cy="380405"/>
          </a:xfrm>
          <a:prstGeom prst="rect">
            <a:avLst/>
          </a:prstGeom>
        </p:spPr>
      </p:pic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95860" y="5810012"/>
            <a:ext cx="152162" cy="152162"/>
          </a:xfrm>
          <a:prstGeom prst="rect">
            <a:avLst/>
          </a:prstGeom>
        </p:spPr>
      </p:pic>
      <p:sp>
        <p:nvSpPr>
          <p:cNvPr id="28" name="Text 13"/>
          <p:cNvSpPr/>
          <p:nvPr/>
        </p:nvSpPr>
        <p:spPr>
          <a:xfrm>
            <a:off x="585907" y="6203037"/>
            <a:ext cx="1634728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Emisión de Respuesta</a:t>
            </a:r>
            <a:endParaRPr lang="en-US" sz="1200" dirty="0"/>
          </a:p>
        </p:txBody>
      </p:sp>
      <p:sp>
        <p:nvSpPr>
          <p:cNvPr id="29" name="Text 14"/>
          <p:cNvSpPr/>
          <p:nvPr/>
        </p:nvSpPr>
        <p:spPr>
          <a:xfrm>
            <a:off x="585907" y="6477119"/>
            <a:ext cx="797218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30" name="Text 15"/>
          <p:cNvSpPr/>
          <p:nvPr/>
        </p:nvSpPr>
        <p:spPr>
          <a:xfrm>
            <a:off x="443865" y="6964680"/>
            <a:ext cx="8256270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Raspberry Pi es fundamental para conectar la información administrativa con la funcionalidad de control físico.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9003" y="1059418"/>
            <a:ext cx="992267" cy="321707"/>
          </a:xfrm>
          <a:prstGeom prst="roundRect">
            <a:avLst>
              <a:gd name="adj" fmla="val 17878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701635" y="1110734"/>
            <a:ext cx="78700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CAPÍTULO 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99003" y="1449586"/>
            <a:ext cx="7592497" cy="534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ESP32: El Punto de Acceso Inteligente</a:t>
            </a:r>
            <a:endParaRPr lang="en-US" sz="3350" dirty="0"/>
          </a:p>
        </p:txBody>
      </p:sp>
      <p:sp>
        <p:nvSpPr>
          <p:cNvPr id="6" name="Text 3"/>
          <p:cNvSpPr/>
          <p:nvPr/>
        </p:nvSpPr>
        <p:spPr>
          <a:xfrm>
            <a:off x="599003" y="2412206"/>
            <a:ext cx="2702600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Funcionalidades Clave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9003" y="2904173"/>
            <a:ext cx="3764280" cy="551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Captura de eventos de acceso, incluyendo la lectura de placas (a través del ANPR) 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9003" y="3577068"/>
            <a:ext cx="376428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Publicación de datos relevantes a la Raspberry Pi mediante el protocolo MQTT para su procesamiento centralizado.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382" y="4425827"/>
            <a:ext cx="376428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Recepción de la respuesta de autorización (o denegación) de la Raspberry Pi.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9003" y="5548432"/>
            <a:ext cx="376428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337" y="2433638"/>
            <a:ext cx="3764280" cy="3764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9003" y="6622375"/>
            <a:ext cx="7945993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 ESP32 actúa como un efector inteligente, sin lógica de decisión propia, garantizando la seguridad y eficiencia del acceso físico.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8175" y="501729"/>
            <a:ext cx="1060013" cy="342662"/>
          </a:xfrm>
          <a:prstGeom prst="roundRect">
            <a:avLst>
              <a:gd name="adj" fmla="val 17881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47474" y="556379"/>
            <a:ext cx="841415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CAPÍTULO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8175" y="917258"/>
            <a:ext cx="8900398" cy="56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Flujo Completo del Sistema de Acceso IoT</a:t>
            </a:r>
            <a:endParaRPr lang="en-US" sz="3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1760577"/>
            <a:ext cx="911662" cy="10940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2121" y="1942862"/>
            <a:ext cx="22793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Registro Web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732121" y="2336959"/>
            <a:ext cx="12260104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 alumno inscribe su motocicleta en el sistema web, asociando la placa a su perfil.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2854643"/>
            <a:ext cx="911662" cy="10940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2121" y="3036927"/>
            <a:ext cx="22793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Lectura ANPR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732121" y="3431024"/>
            <a:ext cx="12260104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 acercarse, el ANPR detecta y lee la placa de la motocicleta.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" y="3948708"/>
            <a:ext cx="911662" cy="10940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2121" y="4130993"/>
            <a:ext cx="2297787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Comunicación ESP32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732121" y="4525089"/>
            <a:ext cx="12260104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 ESP32 envía la placa </a:t>
            </a:r>
            <a:r>
              <a:rPr lang="en-US" sz="140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detectada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 la Raspberry Pi vía MQTT.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" y="5042773"/>
            <a:ext cx="911662" cy="109406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732121" y="5225058"/>
            <a:ext cx="2516862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Validación Raspberry Pi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1732121" y="5619155"/>
            <a:ext cx="12260104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Raspberry Pi consulta la base de datos para verificar la autorización de la motocicleta.</a:t>
            </a:r>
            <a:endParaRPr lang="en-US" sz="1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" y="6136838"/>
            <a:ext cx="911662" cy="109406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732121" y="6319123"/>
            <a:ext cx="22793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Control de Acceso</a:t>
            </a:r>
            <a:endParaRPr lang="en-US" sz="1750" dirty="0"/>
          </a:p>
        </p:txBody>
      </p:sp>
      <p:sp>
        <p:nvSpPr>
          <p:cNvPr id="19" name="Text 12"/>
          <p:cNvSpPr/>
          <p:nvPr/>
        </p:nvSpPr>
        <p:spPr>
          <a:xfrm>
            <a:off x="1732121" y="6713220"/>
            <a:ext cx="12260104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recibe la </a:t>
            </a:r>
            <a:r>
              <a:rPr lang="en-US" sz="140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respuesta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40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registrando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el evento de entrada o salida.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38175" y="7436048"/>
            <a:ext cx="13354050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Este ciclo integra la información administrativa con la automatización física, optimizando la gestión de acceso.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800933"/>
            <a:ext cx="1475423" cy="426244"/>
          </a:xfrm>
          <a:prstGeom prst="roundRect">
            <a:avLst>
              <a:gd name="adj" fmla="val 17880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1"/>
          <p:cNvSpPr/>
          <p:nvPr/>
        </p:nvSpPr>
        <p:spPr>
          <a:xfrm>
            <a:off x="929878" y="868918"/>
            <a:ext cx="120324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CONCLUSIÓN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317903"/>
            <a:ext cx="75243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Beneficios y Próximos Pasos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2366843"/>
            <a:ext cx="7556421" cy="4080748"/>
          </a:xfrm>
          <a:prstGeom prst="roundRect">
            <a:avLst>
              <a:gd name="adj" fmla="val 2335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801410" y="2374463"/>
            <a:ext cx="3770590" cy="2395657"/>
          </a:xfrm>
          <a:prstGeom prst="roundRect">
            <a:avLst>
              <a:gd name="adj" fmla="val 3977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1028224" y="26012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Base Estable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8224" y="3091696"/>
            <a:ext cx="331696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Sistema web de registro funcional, con base de datos y scripts de ejecución local, listo para operar.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572000" y="2374463"/>
            <a:ext cx="3770590" cy="2395657"/>
          </a:xfrm>
          <a:prstGeom prst="rect">
            <a:avLst/>
          </a:prstGeom>
          <a:solidFill>
            <a:srgbClr val="E2E3E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4572000" y="2374463"/>
            <a:ext cx="30480" cy="2395657"/>
          </a:xfrm>
          <a:prstGeom prst="roundRect">
            <a:avLst>
              <a:gd name="adj" fmla="val 312558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4798814" y="26012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Innovación IoT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798814" y="3091696"/>
            <a:ext cx="331696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Propuesta de automatización de acceso para motocicletas utilizando ANPR, Raspberry Pi y ESP32.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801410" y="4770120"/>
            <a:ext cx="7541181" cy="1669852"/>
          </a:xfrm>
          <a:prstGeom prst="rect">
            <a:avLst/>
          </a:prstGeom>
          <a:solidFill>
            <a:srgbClr val="E2E3E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801410" y="4770120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1028224" y="4996934"/>
            <a:ext cx="29369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Resultados Esperados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28224" y="5487353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Menos congestión en los accesos, mayor seguridad y un control vehicular más eficiente para la comunidad de ESCOM.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793790" y="670274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Esta integración demuestra cómo una base administrativa robusta puede evolucionar hacia un sistema inteligente y automatizado.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881</Words>
  <Application>Microsoft Office PowerPoint</Application>
  <PresentationFormat>Personalizado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Instrument Sans Medium</vt:lpstr>
      <vt:lpstr>Consolas</vt:lpstr>
      <vt:lpstr>Arial</vt:lpstr>
      <vt:lpstr>Instrument Sans Semi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Josue Eleazar Bonilla Ramirez</cp:lastModifiedBy>
  <cp:revision>3</cp:revision>
  <dcterms:created xsi:type="dcterms:W3CDTF">2026-01-05T02:33:20Z</dcterms:created>
  <dcterms:modified xsi:type="dcterms:W3CDTF">2026-01-05T02:44:22Z</dcterms:modified>
</cp:coreProperties>
</file>